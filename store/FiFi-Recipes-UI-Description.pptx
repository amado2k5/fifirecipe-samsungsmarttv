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5e9717f3-f55c-8559-c909-4439999836e9}">
          <p14:sldIdLst>
            <p14:sldId id="256"/>
            <p14:sldId id="257"/>
            <p14:sldId id="258"/>
            <p14:sldId id="259"/>
          </p14:sldIdLst>
        </p14:section>
        <p14:section name="Screens" id="{b3c1fc28-99d4-7f37-17e9-d42c824cd049}">
          <p14:sldIdLst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  <p14:section name="Testing notes" id="{e81eba78-7216-5fc7-194c-3fd0d53585ad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4"/>
                </a:solidFill>
              </a:rPr>
              <a:t>FiFi Recipes · App UI Description · v1.0.2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pp name"/>
          <p:cNvSpPr txBox="1"/>
          <p:nvPr/>
        </p:nvSpPr>
        <p:spPr>
          <a:xfrm>
            <a:off x="548640" y="109728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FiFi Recipes</a:t>
            </a:r>
            <a:endParaRPr lang="en-US" sz="4400" dirty="0"/>
          </a:p>
        </p:txBody>
      </p:sp>
      <p:sp>
        <p:nvSpPr>
          <p:cNvPr id="3" name="Subtitle"/>
          <p:cNvSpPr txBox="1"/>
          <p:nvPr/>
        </p:nvSpPr>
        <p:spPr>
          <a:xfrm>
            <a:off x="548640" y="19202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App UI Description for Samsung TV certification</a:t>
            </a:r>
            <a:endParaRPr lang="en-US" sz="1800" dirty="0"/>
          </a:p>
        </p:txBody>
      </p:sp>
      <p:sp>
        <p:nvSpPr>
          <p:cNvPr id="4" name="Facts"/>
          <p:cNvSpPr txBox="1"/>
          <p:nvPr/>
        </p:nvSpPr>
        <p:spPr>
          <a:xfrm>
            <a:off x="548640" y="274320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bg1"/>
                </a:solidFill>
              </a:rPr>
              <a:t>Tizen web application · version 1.0.2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bg1"/>
                </a:solidFill>
              </a:rPr>
              <a:t>App ID FiFiCookTV.FifiRecipes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bg1"/>
                </a:solidFill>
              </a:rPr>
              <a:t>No login · free · internet required</a:t>
            </a:r>
            <a:endParaRPr lang="en-US" sz="1300" dirty="0"/>
          </a:p>
        </p:txBody>
      </p:sp>
      <p:pic>
        <p:nvPicPr>
          <p:cNvPr id="5" name="Home screenshot" descr="/private/tmp/claude-501/-Users-ahmedabdelaal-Documents-GitHub-fifirecipes/5a1618f9-6a45-4358-8d61-f016790e155b/scratchpad/uideck/img/02-hom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1051560"/>
            <a:ext cx="3291840" cy="185166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6" name="Tagline"/>
          <p:cNvSpPr txBox="1"/>
          <p:nvPr/>
        </p:nvSpPr>
        <p:spPr>
          <a:xfrm>
            <a:off x="5394960" y="30632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Fresh from Dr. Fatma’s kitchen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app at a glance</a:t>
            </a:r>
            <a:endParaRPr lang="en-US" sz="2800" dirty="0"/>
          </a:p>
        </p:txBody>
      </p:sp>
      <p:sp>
        <p:nvSpPr>
          <p:cNvPr id="3" name="Fact card 1"/>
          <p:cNvSpPr/>
          <p:nvPr/>
        </p:nvSpPr>
        <p:spPr>
          <a:xfrm>
            <a:off x="457200" y="1097280"/>
            <a:ext cx="402336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" name="Fact label 1"/>
          <p:cNvSpPr txBox="1"/>
          <p:nvPr/>
        </p:nvSpPr>
        <p:spPr>
          <a:xfrm>
            <a:off x="640080" y="1188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What it is</a:t>
            </a:r>
            <a:endParaRPr lang="en-US" sz="1300" dirty="0"/>
          </a:p>
        </p:txBody>
      </p:sp>
      <p:sp>
        <p:nvSpPr>
          <p:cNvPr id="5" name="Fact text 1"/>
          <p:cNvSpPr txBox="1"/>
          <p:nvPr/>
        </p:nvSpPr>
        <p:spPr>
          <a:xfrm>
            <a:off x="640080" y="1481328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Egyptian family recipe archive: 1,000+ recipes, chapters, search, and a Kids cooking mode.</a:t>
            </a:r>
            <a:endParaRPr lang="en-US" sz="1150" dirty="0"/>
          </a:p>
        </p:txBody>
      </p:sp>
      <p:sp>
        <p:nvSpPr>
          <p:cNvPr id="6" name="Fact card 2"/>
          <p:cNvSpPr/>
          <p:nvPr/>
        </p:nvSpPr>
        <p:spPr>
          <a:xfrm>
            <a:off x="4663440" y="1097280"/>
            <a:ext cx="402336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7" name="Fact label 2"/>
          <p:cNvSpPr txBox="1"/>
          <p:nvPr/>
        </p:nvSpPr>
        <p:spPr>
          <a:xfrm>
            <a:off x="4846320" y="1188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Supported TVs</a:t>
            </a:r>
            <a:endParaRPr lang="en-US" sz="1300" dirty="0"/>
          </a:p>
        </p:txBody>
      </p:sp>
      <p:sp>
        <p:nvSpPr>
          <p:cNvPr id="8" name="Fact text 2"/>
          <p:cNvSpPr txBox="1"/>
          <p:nvPr/>
        </p:nvSpPr>
        <p:spPr>
          <a:xfrm>
            <a:off x="4846320" y="1481328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2020 and newer (Tizen 5.5+). Tested on a 2020 QN65Q60T.</a:t>
            </a:r>
            <a:endParaRPr lang="en-US" sz="1150" dirty="0"/>
          </a:p>
        </p:txBody>
      </p:sp>
      <p:sp>
        <p:nvSpPr>
          <p:cNvPr id="9" name="Fact card 3"/>
          <p:cNvSpPr/>
          <p:nvPr/>
        </p:nvSpPr>
        <p:spPr>
          <a:xfrm>
            <a:off x="457200" y="2240280"/>
            <a:ext cx="402336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0" name="Fact label 3"/>
          <p:cNvSpPr txBox="1"/>
          <p:nvPr/>
        </p:nvSpPr>
        <p:spPr>
          <a:xfrm>
            <a:off x="640080" y="2331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Account</a:t>
            </a:r>
            <a:endParaRPr lang="en-US" sz="1300" dirty="0"/>
          </a:p>
        </p:txBody>
      </p:sp>
      <p:sp>
        <p:nvSpPr>
          <p:cNvPr id="11" name="Fact text 3"/>
          <p:cNvSpPr txBox="1"/>
          <p:nvPr/>
        </p:nvSpPr>
        <p:spPr>
          <a:xfrm>
            <a:off x="640080" y="2624328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None. No login, no test account needed.</a:t>
            </a:r>
            <a:endParaRPr lang="en-US" sz="1150" dirty="0"/>
          </a:p>
        </p:txBody>
      </p:sp>
      <p:sp>
        <p:nvSpPr>
          <p:cNvPr id="12" name="Fact card 4"/>
          <p:cNvSpPr/>
          <p:nvPr/>
        </p:nvSpPr>
        <p:spPr>
          <a:xfrm>
            <a:off x="4663440" y="2240280"/>
            <a:ext cx="402336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3" name="Fact label 4"/>
          <p:cNvSpPr txBox="1"/>
          <p:nvPr/>
        </p:nvSpPr>
        <p:spPr>
          <a:xfrm>
            <a:off x="4846320" y="2331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Purchases &amp; ads</a:t>
            </a:r>
            <a:endParaRPr lang="en-US" sz="1300" dirty="0"/>
          </a:p>
        </p:txBody>
      </p:sp>
      <p:sp>
        <p:nvSpPr>
          <p:cNvPr id="14" name="Fact text 4"/>
          <p:cNvSpPr txBox="1"/>
          <p:nvPr/>
        </p:nvSpPr>
        <p:spPr>
          <a:xfrm>
            <a:off x="4846320" y="2624328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Free. No in-app purchases, no advertising, no tracking.</a:t>
            </a:r>
            <a:endParaRPr lang="en-US" sz="1150" dirty="0"/>
          </a:p>
        </p:txBody>
      </p:sp>
      <p:sp>
        <p:nvSpPr>
          <p:cNvPr id="15" name="Fact card 5"/>
          <p:cNvSpPr/>
          <p:nvPr/>
        </p:nvSpPr>
        <p:spPr>
          <a:xfrm>
            <a:off x="457200" y="3383280"/>
            <a:ext cx="402336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6" name="Fact label 5"/>
          <p:cNvSpPr txBox="1"/>
          <p:nvPr/>
        </p:nvSpPr>
        <p:spPr>
          <a:xfrm>
            <a:off x="640080" y="3474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Network</a:t>
            </a:r>
            <a:endParaRPr lang="en-US" sz="1300" dirty="0"/>
          </a:p>
        </p:txBody>
      </p:sp>
      <p:sp>
        <p:nvSpPr>
          <p:cNvPr id="17" name="Fact text 5"/>
          <p:cNvSpPr txBox="1"/>
          <p:nvPr/>
        </p:nvSpPr>
        <p:spPr>
          <a:xfrm>
            <a:off x="640080" y="3767328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Required. Recipes load from fifi.cooking; videos play via a YouTube relay page.</a:t>
            </a:r>
            <a:endParaRPr lang="en-US" sz="1150" dirty="0"/>
          </a:p>
        </p:txBody>
      </p:sp>
      <p:sp>
        <p:nvSpPr>
          <p:cNvPr id="18" name="Fact card 6"/>
          <p:cNvSpPr/>
          <p:nvPr/>
        </p:nvSpPr>
        <p:spPr>
          <a:xfrm>
            <a:off x="4663440" y="3383280"/>
            <a:ext cx="402336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9" name="Fact label 6"/>
          <p:cNvSpPr txBox="1"/>
          <p:nvPr/>
        </p:nvSpPr>
        <p:spPr>
          <a:xfrm>
            <a:off x="4846320" y="3474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Languages</a:t>
            </a:r>
            <a:endParaRPr lang="en-US" sz="1300" dirty="0"/>
          </a:p>
        </p:txBody>
      </p:sp>
      <p:sp>
        <p:nvSpPr>
          <p:cNvPr id="20" name="Fact text 6"/>
          <p:cNvSpPr txBox="1"/>
          <p:nvPr/>
        </p:nvSpPr>
        <p:spPr>
          <a:xfrm>
            <a:off x="4846320" y="3767328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24 interface languages, chosen in-app; Arabic, Urdu and others mirror right-to-left.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Remote control keys</a:t>
            </a:r>
            <a:endParaRPr lang="en-US" sz="2800" dirty="0"/>
          </a:p>
        </p:txBody>
      </p:sp>
      <p:graphicFrame>
        <p:nvGraphicFramePr>
          <p:cNvPr id="4" name="Key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585216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does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Arrows ← ↑ → ↓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Move the focus (focused item is outlined in orange and enlarged)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 / Enter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Select: open a recipe, a chapter, a video, a keyboard letter, a filter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 back one screen. On Home, Return closes the app and returns to Smart Hub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Handled by the system: closes the app immediately, no confirmation popup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Play/Pause · Play · Pause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 the recipe video while the player is open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Stop the video and close the player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Key note"/>
          <p:cNvSpPr txBox="1"/>
          <p:nvPr/>
        </p:nvSpPr>
        <p:spPr>
          <a:xfrm>
            <a:off x="457200" y="4251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4"/>
                </a:solidFill>
              </a:rPr>
              <a:t>Number and colour keys are not used. The pointer of smart remotes is disabled; the UI is fully focus-driven.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Screen flow</a:t>
            </a:r>
            <a:endParaRPr lang="en-US" sz="2800" dirty="0"/>
          </a:p>
        </p:txBody>
      </p:sp>
      <p:sp>
        <p:nvSpPr>
          <p:cNvPr id="3" name="Launch"/>
          <p:cNvSpPr/>
          <p:nvPr/>
        </p:nvSpPr>
        <p:spPr>
          <a:xfrm>
            <a:off x="457200" y="1188720"/>
            <a:ext cx="1325880" cy="713232"/>
          </a:xfrm>
          <a:prstGeom prst="roundRect">
            <a:avLst>
              <a:gd name="adj" fmla="val 12821"/>
            </a:avLst>
          </a:prstGeom>
          <a:solidFill>
            <a:schemeClr val="bg2"/>
          </a:solidFill>
          <a:ln w="15875">
            <a:solidFill>
              <a:schemeClr val="accent5"/>
            </a:solidFill>
            <a:prstDash val="solid"/>
          </a:ln>
        </p:spPr>
      </p:sp>
      <p:sp>
        <p:nvSpPr>
          <p:cNvPr id="4" name="Launch label"/>
          <p:cNvSpPr txBox="1"/>
          <p:nvPr/>
        </p:nvSpPr>
        <p:spPr>
          <a:xfrm>
            <a:off x="457200" y="1188720"/>
            <a:ext cx="1325880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Launch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from Smart Hub</a:t>
            </a:r>
            <a:endParaRPr lang="en-US" sz="1300" dirty="0"/>
          </a:p>
        </p:txBody>
      </p:sp>
      <p:sp>
        <p:nvSpPr>
          <p:cNvPr id="5" name="Language"/>
          <p:cNvSpPr/>
          <p:nvPr/>
        </p:nvSpPr>
        <p:spPr>
          <a:xfrm>
            <a:off x="2103120" y="1188720"/>
            <a:ext cx="1325880" cy="713232"/>
          </a:xfrm>
          <a:prstGeom prst="roundRect">
            <a:avLst>
              <a:gd name="adj" fmla="val 12821"/>
            </a:avLst>
          </a:prstGeom>
          <a:solidFill>
            <a:schemeClr val="bg2"/>
          </a:solidFill>
          <a:ln w="15875">
            <a:solidFill>
              <a:schemeClr val="accent5"/>
            </a:solidFill>
            <a:prstDash val="solid"/>
          </a:ln>
        </p:spPr>
      </p:sp>
      <p:sp>
        <p:nvSpPr>
          <p:cNvPr id="6" name="Language label"/>
          <p:cNvSpPr txBox="1"/>
          <p:nvPr/>
        </p:nvSpPr>
        <p:spPr>
          <a:xfrm>
            <a:off x="2103120" y="1188720"/>
            <a:ext cx="1325880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Language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first launch only</a:t>
            </a:r>
            <a:endParaRPr lang="en-US" sz="1300" dirty="0"/>
          </a:p>
        </p:txBody>
      </p:sp>
      <p:sp>
        <p:nvSpPr>
          <p:cNvPr id="7" name="Arrow into Language"/>
          <p:cNvSpPr/>
          <p:nvPr/>
        </p:nvSpPr>
        <p:spPr>
          <a:xfrm>
            <a:off x="1783080" y="1545336"/>
            <a:ext cx="320040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8" name="Home"/>
          <p:cNvSpPr/>
          <p:nvPr/>
        </p:nvSpPr>
        <p:spPr>
          <a:xfrm>
            <a:off x="3749040" y="1188720"/>
            <a:ext cx="1325880" cy="713232"/>
          </a:xfrm>
          <a:prstGeom prst="roundRect">
            <a:avLst>
              <a:gd name="adj" fmla="val 12821"/>
            </a:avLst>
          </a:prstGeom>
          <a:solidFill>
            <a:schemeClr val="accent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9" name="Home label"/>
          <p:cNvSpPr txBox="1"/>
          <p:nvPr/>
        </p:nvSpPr>
        <p:spPr>
          <a:xfrm>
            <a:off x="3749040" y="1188720"/>
            <a:ext cx="1325880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Home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top menu + rails</a:t>
            </a:r>
            <a:endParaRPr lang="en-US" sz="1300" dirty="0"/>
          </a:p>
        </p:txBody>
      </p:sp>
      <p:sp>
        <p:nvSpPr>
          <p:cNvPr id="10" name="Arrow into Home"/>
          <p:cNvSpPr/>
          <p:nvPr/>
        </p:nvSpPr>
        <p:spPr>
          <a:xfrm>
            <a:off x="3429000" y="1545336"/>
            <a:ext cx="320040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1" name="Recipe"/>
          <p:cNvSpPr/>
          <p:nvPr/>
        </p:nvSpPr>
        <p:spPr>
          <a:xfrm>
            <a:off x="5394960" y="1188720"/>
            <a:ext cx="1325880" cy="713232"/>
          </a:xfrm>
          <a:prstGeom prst="roundRect">
            <a:avLst>
              <a:gd name="adj" fmla="val 12821"/>
            </a:avLst>
          </a:prstGeom>
          <a:solidFill>
            <a:schemeClr val="bg2"/>
          </a:solidFill>
          <a:ln w="15875">
            <a:solidFill>
              <a:schemeClr val="accent5"/>
            </a:solidFill>
            <a:prstDash val="solid"/>
          </a:ln>
        </p:spPr>
      </p:sp>
      <p:sp>
        <p:nvSpPr>
          <p:cNvPr id="12" name="Recipe label"/>
          <p:cNvSpPr txBox="1"/>
          <p:nvPr/>
        </p:nvSpPr>
        <p:spPr>
          <a:xfrm>
            <a:off x="5394960" y="1188720"/>
            <a:ext cx="1325880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Recipe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ingredients &amp; steps</a:t>
            </a:r>
            <a:endParaRPr lang="en-US" sz="1300" dirty="0"/>
          </a:p>
        </p:txBody>
      </p:sp>
      <p:sp>
        <p:nvSpPr>
          <p:cNvPr id="13" name="Arrow into Recipe"/>
          <p:cNvSpPr/>
          <p:nvPr/>
        </p:nvSpPr>
        <p:spPr>
          <a:xfrm>
            <a:off x="5074920" y="1545336"/>
            <a:ext cx="320040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4" name="Video"/>
          <p:cNvSpPr/>
          <p:nvPr/>
        </p:nvSpPr>
        <p:spPr>
          <a:xfrm>
            <a:off x="7040880" y="1188720"/>
            <a:ext cx="1325880" cy="713232"/>
          </a:xfrm>
          <a:prstGeom prst="roundRect">
            <a:avLst>
              <a:gd name="adj" fmla="val 12821"/>
            </a:avLst>
          </a:prstGeom>
          <a:solidFill>
            <a:schemeClr val="bg2"/>
          </a:solidFill>
          <a:ln w="15875">
            <a:solidFill>
              <a:schemeClr val="accent5"/>
            </a:solidFill>
            <a:prstDash val="solid"/>
          </a:ln>
        </p:spPr>
      </p:sp>
      <p:sp>
        <p:nvSpPr>
          <p:cNvPr id="15" name="Video label"/>
          <p:cNvSpPr txBox="1"/>
          <p:nvPr/>
        </p:nvSpPr>
        <p:spPr>
          <a:xfrm>
            <a:off x="7040880" y="1188720"/>
            <a:ext cx="1325880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Video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full-screen player</a:t>
            </a:r>
            <a:endParaRPr lang="en-US" sz="1300" dirty="0"/>
          </a:p>
        </p:txBody>
      </p:sp>
      <p:sp>
        <p:nvSpPr>
          <p:cNvPr id="16" name="Arrow into Video"/>
          <p:cNvSpPr/>
          <p:nvPr/>
        </p:nvSpPr>
        <p:spPr>
          <a:xfrm>
            <a:off x="6720840" y="1545336"/>
            <a:ext cx="320040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7" name="Branch stem"/>
          <p:cNvSpPr/>
          <p:nvPr/>
        </p:nvSpPr>
        <p:spPr>
          <a:xfrm>
            <a:off x="4411980" y="1901952"/>
            <a:ext cx="0" cy="493776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</a:ln>
        </p:spPr>
      </p:sp>
      <p:sp>
        <p:nvSpPr>
          <p:cNvPr id="18" name="Branch bus"/>
          <p:cNvSpPr/>
          <p:nvPr/>
        </p:nvSpPr>
        <p:spPr>
          <a:xfrm>
            <a:off x="2286000" y="2395728"/>
            <a:ext cx="4251960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</a:ln>
        </p:spPr>
      </p:sp>
      <p:sp>
        <p:nvSpPr>
          <p:cNvPr id="19" name="Arrow into Chapters"/>
          <p:cNvSpPr/>
          <p:nvPr/>
        </p:nvSpPr>
        <p:spPr>
          <a:xfrm>
            <a:off x="2286000" y="2395728"/>
            <a:ext cx="0" cy="438912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0" name="Menu Chapters"/>
          <p:cNvSpPr/>
          <p:nvPr/>
        </p:nvSpPr>
        <p:spPr>
          <a:xfrm>
            <a:off x="1645920" y="2834640"/>
            <a:ext cx="1280160" cy="713232"/>
          </a:xfrm>
          <a:prstGeom prst="roundRect">
            <a:avLst>
              <a:gd name="adj" fmla="val 12821"/>
            </a:avLst>
          </a:prstGeom>
          <a:solidFill>
            <a:schemeClr val="bg2"/>
          </a:solidFill>
          <a:ln w="15875">
            <a:solidFill>
              <a:schemeClr val="accent5"/>
            </a:solidFill>
            <a:prstDash val="solid"/>
          </a:ln>
        </p:spPr>
      </p:sp>
      <p:sp>
        <p:nvSpPr>
          <p:cNvPr id="21" name="Menu Chapters label"/>
          <p:cNvSpPr txBox="1"/>
          <p:nvPr/>
        </p:nvSpPr>
        <p:spPr>
          <a:xfrm>
            <a:off x="1645920" y="2834640"/>
            <a:ext cx="1280160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Chapters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browse by chapter</a:t>
            </a:r>
            <a:endParaRPr lang="en-US" sz="1300" dirty="0"/>
          </a:p>
        </p:txBody>
      </p:sp>
      <p:sp>
        <p:nvSpPr>
          <p:cNvPr id="22" name="Arrow into Search"/>
          <p:cNvSpPr/>
          <p:nvPr/>
        </p:nvSpPr>
        <p:spPr>
          <a:xfrm>
            <a:off x="3703320" y="2395728"/>
            <a:ext cx="0" cy="438912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3" name="Menu Search"/>
          <p:cNvSpPr/>
          <p:nvPr/>
        </p:nvSpPr>
        <p:spPr>
          <a:xfrm>
            <a:off x="3063240" y="2834640"/>
            <a:ext cx="1280160" cy="713232"/>
          </a:xfrm>
          <a:prstGeom prst="roundRect">
            <a:avLst>
              <a:gd name="adj" fmla="val 12821"/>
            </a:avLst>
          </a:prstGeom>
          <a:solidFill>
            <a:schemeClr val="bg2"/>
          </a:solidFill>
          <a:ln w="15875">
            <a:solidFill>
              <a:schemeClr val="accent5"/>
            </a:solidFill>
            <a:prstDash val="solid"/>
          </a:ln>
        </p:spPr>
      </p:sp>
      <p:sp>
        <p:nvSpPr>
          <p:cNvPr id="24" name="Menu Search label"/>
          <p:cNvSpPr txBox="1"/>
          <p:nvPr/>
        </p:nvSpPr>
        <p:spPr>
          <a:xfrm>
            <a:off x="3063240" y="2834640"/>
            <a:ext cx="1280160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Search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on-screen keyboard</a:t>
            </a:r>
            <a:endParaRPr lang="en-US" sz="1300" dirty="0"/>
          </a:p>
        </p:txBody>
      </p:sp>
      <p:sp>
        <p:nvSpPr>
          <p:cNvPr id="25" name="Arrow into Kids"/>
          <p:cNvSpPr/>
          <p:nvPr/>
        </p:nvSpPr>
        <p:spPr>
          <a:xfrm>
            <a:off x="5120640" y="2395728"/>
            <a:ext cx="0" cy="438912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6" name="Menu Kids"/>
          <p:cNvSpPr/>
          <p:nvPr/>
        </p:nvSpPr>
        <p:spPr>
          <a:xfrm>
            <a:off x="4480560" y="2834640"/>
            <a:ext cx="1280160" cy="713232"/>
          </a:xfrm>
          <a:prstGeom prst="roundRect">
            <a:avLst>
              <a:gd name="adj" fmla="val 12821"/>
            </a:avLst>
          </a:prstGeom>
          <a:solidFill>
            <a:schemeClr val="bg2"/>
          </a:solidFill>
          <a:ln w="15875">
            <a:solidFill>
              <a:schemeClr val="accent5"/>
            </a:solidFill>
            <a:prstDash val="solid"/>
          </a:ln>
        </p:spPr>
      </p:sp>
      <p:sp>
        <p:nvSpPr>
          <p:cNvPr id="27" name="Menu Kids label"/>
          <p:cNvSpPr txBox="1"/>
          <p:nvPr/>
        </p:nvSpPr>
        <p:spPr>
          <a:xfrm>
            <a:off x="4480560" y="2834640"/>
            <a:ext cx="1280160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Kids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illustrated recipes</a:t>
            </a:r>
            <a:endParaRPr lang="en-US" sz="1300" dirty="0"/>
          </a:p>
        </p:txBody>
      </p:sp>
      <p:sp>
        <p:nvSpPr>
          <p:cNvPr id="28" name="Arrow into Settings"/>
          <p:cNvSpPr/>
          <p:nvPr/>
        </p:nvSpPr>
        <p:spPr>
          <a:xfrm>
            <a:off x="6537960" y="2395728"/>
            <a:ext cx="0" cy="438912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9" name="Menu Settings"/>
          <p:cNvSpPr/>
          <p:nvPr/>
        </p:nvSpPr>
        <p:spPr>
          <a:xfrm>
            <a:off x="5897880" y="2834640"/>
            <a:ext cx="1280160" cy="713232"/>
          </a:xfrm>
          <a:prstGeom prst="roundRect">
            <a:avLst>
              <a:gd name="adj" fmla="val 12821"/>
            </a:avLst>
          </a:prstGeom>
          <a:solidFill>
            <a:schemeClr val="bg2"/>
          </a:solidFill>
          <a:ln w="15875">
            <a:solidFill>
              <a:schemeClr val="accent5"/>
            </a:solidFill>
            <a:prstDash val="solid"/>
          </a:ln>
        </p:spPr>
      </p:sp>
      <p:sp>
        <p:nvSpPr>
          <p:cNvPr id="30" name="Menu Settings label"/>
          <p:cNvSpPr txBox="1"/>
          <p:nvPr/>
        </p:nvSpPr>
        <p:spPr>
          <a:xfrm>
            <a:off x="5897880" y="2834640"/>
            <a:ext cx="1280160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Settings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language · about</a:t>
            </a:r>
            <a:endParaRPr lang="en-US" sz="1300" dirty="0"/>
          </a:p>
        </p:txBody>
      </p:sp>
      <p:sp>
        <p:nvSpPr>
          <p:cNvPr id="31" name="Flow note"/>
          <p:cNvSpPr txBox="1"/>
          <p:nvPr/>
        </p:nvSpPr>
        <p:spPr>
          <a:xfrm>
            <a:off x="457200" y="39319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chemeClr val="accent4"/>
                </a:solidFill>
              </a:rPr>
              <a:t>Top menu items are reachable from every screen with ↑. Return walks back along these arrows; Return on Home exits.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· Language picker</a:t>
            </a:r>
            <a:endParaRPr lang="en-US" sz="2800" dirty="0"/>
          </a:p>
        </p:txBody>
      </p:sp>
      <p:pic>
        <p:nvPicPr>
          <p:cNvPr id="3" name="1 · Language picker screenshot" descr="/private/tmp/claude-501/-Users-ahmedabdelaal-Documents-GitHub-fifirecipes/5a1618f9-6a45-4358-8d61-f016790e155b/scratchpad/uideck/img/01-languag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4937760" cy="277749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4" name="1 · Language picker steps"/>
          <p:cNvSpPr txBox="1"/>
          <p:nvPr/>
        </p:nvSpPr>
        <p:spPr>
          <a:xfrm>
            <a:off x="5669280" y="1097280"/>
            <a:ext cx="301752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chemeClr val="tx1"/>
                </a:solidFill>
              </a:rPr>
              <a:t>Shown on first launch only.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chemeClr val="tx1"/>
                </a:solidFill>
              </a:rPr>
              <a:t>Arrows move between languages; OK confirms and opens Home.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chemeClr val="tx1"/>
                </a:solidFill>
              </a:rPr>
              <a:t>The choice is remembered; change it later in Settings.</a:t>
            </a:r>
            <a:endParaRPr lang="en-US" sz="1200" dirty="0"/>
          </a:p>
        </p:txBody>
      </p:sp>
      <p:sp>
        <p:nvSpPr>
          <p:cNvPr id="5" name="1 · Language picker note"/>
          <p:cNvSpPr txBox="1"/>
          <p:nvPr/>
        </p:nvSpPr>
        <p:spPr>
          <a:xfrm>
            <a:off x="457200" y="4069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4"/>
                </a:solidFill>
              </a:rPr>
              <a:t>Arabic, Urdu, Persian, Pashto, Hebrew and Kurdish switch the whole layout to right-to-left.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· Home</a:t>
            </a:r>
            <a:endParaRPr lang="en-US" sz="2800" dirty="0"/>
          </a:p>
        </p:txBody>
      </p:sp>
      <p:pic>
        <p:nvPicPr>
          <p:cNvPr id="3" name="2 · Home screenshot" descr="/private/tmp/claude-501/-Users-ahmedabdelaal-Documents-GitHub-fifirecipes/5a1618f9-6a45-4358-8d61-f016790e155b/scratchpad/uideck/img/02-hom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4937760" cy="277749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4" name="2 · Home steps"/>
          <p:cNvSpPr txBox="1"/>
          <p:nvPr/>
        </p:nvSpPr>
        <p:spPr>
          <a:xfrm>
            <a:off x="5669280" y="1097280"/>
            <a:ext cx="301752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chemeClr val="tx1"/>
                </a:solidFill>
              </a:rPr>
              <a:t>Top menu: Home, Chapters, Search, Kids, Settings.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chemeClr val="tx1"/>
                </a:solidFill>
              </a:rPr>
              <a:t>Featured recipe banner, then rails of recipes (← → to scroll a rail, ↓ for the next rail).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chemeClr val="tx1"/>
                </a:solidFill>
              </a:rPr>
              <a:t>OK on a card opens the recipe.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chemeClr val="tx1"/>
                </a:solidFill>
              </a:rPr>
              <a:t>Return on Home closes the app (back to Smart Hub).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· Recipe</a:t>
            </a:r>
            <a:endParaRPr lang="en-US" sz="2800" dirty="0"/>
          </a:p>
        </p:txBody>
      </p:sp>
      <p:pic>
        <p:nvPicPr>
          <p:cNvPr id="3" name="3 · Recipe screenshot" descr="/private/tmp/claude-501/-Users-ahmedabdelaal-Documents-GitHub-fifirecipes/5a1618f9-6a45-4358-8d61-f016790e155b/scratchpad/uideck/img/03-recip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4937760" cy="277749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4" name="3 · Recipe steps"/>
          <p:cNvSpPr txBox="1"/>
          <p:nvPr/>
        </p:nvSpPr>
        <p:spPr>
          <a:xfrm>
            <a:off x="5669280" y="1097280"/>
            <a:ext cx="301752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chemeClr val="tx1"/>
                </a:solidFill>
              </a:rPr>
              <a:t>Title, times, servings, nutrition and “From Fatma’s notebook”.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chemeClr val="tx1"/>
                </a:solidFill>
              </a:rPr>
              <a:t>↓ scrolls to Ingredients and numbered Steps; the focused step is outlined.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chemeClr val="tx1"/>
                </a:solidFill>
              </a:rPr>
              <a:t>Video cards appear further down; OK opens the player.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chemeClr val="tx1"/>
                </a:solidFill>
              </a:rPr>
              <a:t>Return goes back to the previous screen.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· Video player</a:t>
            </a:r>
            <a:endParaRPr lang="en-US" sz="2800" dirty="0"/>
          </a:p>
        </p:txBody>
      </p:sp>
      <p:pic>
        <p:nvPicPr>
          <p:cNvPr id="3" name="4 · Video player screenshot" descr="/private/tmp/claude-501/-Users-ahmedabdelaal-Documents-GitHub-fifirecipes/5a1618f9-6a45-4358-8d61-f016790e155b/scratchpad/uideck/img/03b-vide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4937760" cy="277749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4" name="4 · Video player steps"/>
          <p:cNvSpPr txBox="1"/>
          <p:nvPr/>
        </p:nvSpPr>
        <p:spPr>
          <a:xfrm>
            <a:off x="5669280" y="1097280"/>
            <a:ext cx="301752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chemeClr val="tx1"/>
                </a:solidFill>
              </a:rPr>
              <a:t>Plays the recipe video full screen (YouTube relay page).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chemeClr val="tx1"/>
                </a:solidFill>
              </a:rPr>
              <a:t>Play/Pause, Play, Pause and Stop keys control playback; on-screen Play/Pause and Close buttons too.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chemeClr val="tx1"/>
                </a:solidFill>
              </a:rPr>
              <a:t>Return or Stop closes the player.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chemeClr val="tx1"/>
                </a:solidFill>
              </a:rPr>
              <a:t>Opening Smart Hub or leaving the app pauses the video.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· Search</a:t>
            </a:r>
            <a:endParaRPr lang="en-US" sz="2800" dirty="0"/>
          </a:p>
        </p:txBody>
      </p:sp>
      <p:pic>
        <p:nvPicPr>
          <p:cNvPr id="3" name="5 · Search screenshot" descr="/private/tmp/claude-501/-Users-ahmedabdelaal-Documents-GitHub-fifirecipes/5a1618f9-6a45-4358-8d61-f016790e155b/scratchpad/uideck/img/06-search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4937760" cy="277749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4" name="5 · Search steps"/>
          <p:cNvSpPr txBox="1"/>
          <p:nvPr/>
        </p:nvSpPr>
        <p:spPr>
          <a:xfrm>
            <a:off x="5669280" y="1097280"/>
            <a:ext cx="301752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chemeClr val="tx1"/>
                </a:solidFill>
              </a:rPr>
              <a:t>On-screen keyboard: arrows to a letter, OK to type; space, delete and clear keys below.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chemeClr val="tx1"/>
                </a:solidFill>
              </a:rPr>
              <a:t>Matching recipes appear under the keyboard as you type.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chemeClr val="tx1"/>
                </a:solidFill>
              </a:rPr>
              <a:t>Unmatched words show a friendly “no results” message.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· Kids</a:t>
            </a:r>
            <a:endParaRPr lang="en-US" sz="2800" dirty="0"/>
          </a:p>
        </p:txBody>
      </p:sp>
      <p:pic>
        <p:nvPicPr>
          <p:cNvPr id="3" name="6 · Kids screenshot" descr="/private/tmp/claude-501/-Users-ahmedabdelaal-Documents-GitHub-fifirecipes/5a1618f9-6a45-4358-8d61-f016790e155b/scratchpad/uideck/img/05-kid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4937760" cy="277749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4" name="6 · Kids steps"/>
          <p:cNvSpPr txBox="1"/>
          <p:nvPr/>
        </p:nvSpPr>
        <p:spPr>
          <a:xfrm>
            <a:off x="5669280" y="1097280"/>
            <a:ext cx="301752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chemeClr val="tx1"/>
                </a:solidFill>
              </a:rPr>
              <a:t>Filter chips: All, Breakfast, Snacks, Savoury, Sweet treats, Drinks, No cooking.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chemeClr val="tx1"/>
                </a:solidFill>
              </a:rPr>
              <a:t>OK on a recipe opens the “Get ready” checklist with allergen and grown-up notes.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chemeClr val="tx1"/>
                </a:solidFill>
              </a:rPr>
              <a:t>Step cards: ← → to move; a celebration screen at the end.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chemeClr val="tx1"/>
                </a:solidFill>
              </a:rPr>
              <a:t>Return goes back one screen at a time.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· Settings &amp; right-to-left</a:t>
            </a:r>
            <a:endParaRPr lang="en-US" sz="2800" dirty="0"/>
          </a:p>
        </p:txBody>
      </p:sp>
      <p:pic>
        <p:nvPicPr>
          <p:cNvPr id="3" name="7 · Settings &amp; right-to-left screenshot" descr="/private/tmp/claude-501/-Users-ahmedabdelaal-Documents-GitHub-fifirecipes/5a1618f9-6a45-4358-8d61-f016790e155b/scratchpad/uideck/img/07-home-arabic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4937760" cy="277749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4" name="7 · Settings &amp; right-to-left steps"/>
          <p:cNvSpPr txBox="1"/>
          <p:nvPr/>
        </p:nvSpPr>
        <p:spPr>
          <a:xfrm>
            <a:off x="5669280" y="1097280"/>
            <a:ext cx="301752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chemeClr val="tx1"/>
                </a:solidFill>
              </a:rPr>
              <a:t>Settings: change language, about, app version.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chemeClr val="tx1"/>
                </a:solidFill>
              </a:rPr>
              <a:t>Choosing Arabic (shown) mirrors the entire interface; arrow keys follow the mirrored layout.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Notes for the certification tester</a:t>
            </a:r>
            <a:endParaRPr lang="en-US" sz="2800" dirty="0"/>
          </a:p>
        </p:txBody>
      </p:sp>
      <p:sp>
        <p:nvSpPr>
          <p:cNvPr id="3" name="Note dot 1"/>
          <p:cNvSpPr/>
          <p:nvPr/>
        </p:nvSpPr>
        <p:spPr>
          <a:xfrm>
            <a:off x="457200" y="1115568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Note number 1"/>
          <p:cNvSpPr txBox="1"/>
          <p:nvPr/>
        </p:nvSpPr>
        <p:spPr>
          <a:xfrm>
            <a:off x="457200" y="11155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</a:t>
            </a:r>
            <a:endParaRPr lang="en-US" sz="1100" dirty="0"/>
          </a:p>
        </p:txBody>
      </p:sp>
      <p:sp>
        <p:nvSpPr>
          <p:cNvPr id="5" name="Note text 1"/>
          <p:cNvSpPr txBox="1"/>
          <p:nvPr/>
        </p:nvSpPr>
        <p:spPr>
          <a:xfrm>
            <a:off x="960120" y="1051560"/>
            <a:ext cx="7726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No account 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There is no login or sign-up anywhere in the app.</a:t>
            </a:r>
            <a:endParaRPr lang="en-US" sz="1250" dirty="0"/>
          </a:p>
        </p:txBody>
      </p:sp>
      <p:sp>
        <p:nvSpPr>
          <p:cNvPr id="6" name="Note dot 2"/>
          <p:cNvSpPr/>
          <p:nvPr/>
        </p:nvSpPr>
        <p:spPr>
          <a:xfrm>
            <a:off x="457200" y="1682496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Note number 2"/>
          <p:cNvSpPr txBox="1"/>
          <p:nvPr/>
        </p:nvSpPr>
        <p:spPr>
          <a:xfrm>
            <a:off x="457200" y="16824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2</a:t>
            </a:r>
            <a:endParaRPr lang="en-US" sz="1100" dirty="0"/>
          </a:p>
        </p:txBody>
      </p:sp>
      <p:sp>
        <p:nvSpPr>
          <p:cNvPr id="8" name="Note text 2"/>
          <p:cNvSpPr txBox="1"/>
          <p:nvPr/>
        </p:nvSpPr>
        <p:spPr>
          <a:xfrm>
            <a:off x="960120" y="1618488"/>
            <a:ext cx="7726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Network loss 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A banner appears when the connection drops; the app recovers automatically when it returns.</a:t>
            </a:r>
            <a:endParaRPr lang="en-US" sz="1250" dirty="0"/>
          </a:p>
        </p:txBody>
      </p:sp>
      <p:sp>
        <p:nvSpPr>
          <p:cNvPr id="9" name="Note dot 3"/>
          <p:cNvSpPr/>
          <p:nvPr/>
        </p:nvSpPr>
        <p:spPr>
          <a:xfrm>
            <a:off x="457200" y="2249424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Note number 3"/>
          <p:cNvSpPr txBox="1"/>
          <p:nvPr/>
        </p:nvSpPr>
        <p:spPr>
          <a:xfrm>
            <a:off x="457200" y="22494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3</a:t>
            </a:r>
            <a:endParaRPr lang="en-US" sz="1100" dirty="0"/>
          </a:p>
        </p:txBody>
      </p:sp>
      <p:sp>
        <p:nvSpPr>
          <p:cNvPr id="11" name="Note text 3"/>
          <p:cNvSpPr txBox="1"/>
          <p:nvPr/>
        </p:nvSpPr>
        <p:spPr>
          <a:xfrm>
            <a:off x="960120" y="2185416"/>
            <a:ext cx="7726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Return / Exit 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Return on Home exits to Smart Hub. Exit always closes immediately (system key, not intercepted).</a:t>
            </a:r>
            <a:endParaRPr lang="en-US" sz="1250" dirty="0"/>
          </a:p>
        </p:txBody>
      </p:sp>
      <p:sp>
        <p:nvSpPr>
          <p:cNvPr id="12" name="Note dot 4"/>
          <p:cNvSpPr/>
          <p:nvPr/>
        </p:nvSpPr>
        <p:spPr>
          <a:xfrm>
            <a:off x="457200" y="2816352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Note number 4"/>
          <p:cNvSpPr txBox="1"/>
          <p:nvPr/>
        </p:nvSpPr>
        <p:spPr>
          <a:xfrm>
            <a:off x="457200" y="28163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4</a:t>
            </a:r>
            <a:endParaRPr lang="en-US" sz="1100" dirty="0"/>
          </a:p>
        </p:txBody>
      </p:sp>
      <p:sp>
        <p:nvSpPr>
          <p:cNvPr id="14" name="Note text 4"/>
          <p:cNvSpPr txBox="1"/>
          <p:nvPr/>
        </p:nvSpPr>
        <p:spPr>
          <a:xfrm>
            <a:off x="960120" y="2752344"/>
            <a:ext cx="7726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Background 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Media pauses when the app is hidden (Smart Hub / Home key) and can be resumed.</a:t>
            </a:r>
            <a:endParaRPr lang="en-US" sz="1250" dirty="0"/>
          </a:p>
        </p:txBody>
      </p:sp>
      <p:sp>
        <p:nvSpPr>
          <p:cNvPr id="15" name="Note dot 5"/>
          <p:cNvSpPr/>
          <p:nvPr/>
        </p:nvSpPr>
        <p:spPr>
          <a:xfrm>
            <a:off x="457200" y="3383280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Note number 5"/>
          <p:cNvSpPr txBox="1"/>
          <p:nvPr/>
        </p:nvSpPr>
        <p:spPr>
          <a:xfrm>
            <a:off x="457200" y="33832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5</a:t>
            </a:r>
            <a:endParaRPr lang="en-US" sz="1100" dirty="0"/>
          </a:p>
        </p:txBody>
      </p:sp>
      <p:sp>
        <p:nvSpPr>
          <p:cNvPr id="17" name="Note text 5"/>
          <p:cNvSpPr txBox="1"/>
          <p:nvPr/>
        </p:nvSpPr>
        <p:spPr>
          <a:xfrm>
            <a:off x="960120" y="3319272"/>
            <a:ext cx="7726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Rapid input 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Held or rapid arrow presses are throttled so focus never skips or breaks.</a:t>
            </a:r>
            <a:endParaRPr lang="en-US" sz="1250" dirty="0"/>
          </a:p>
        </p:txBody>
      </p:sp>
      <p:sp>
        <p:nvSpPr>
          <p:cNvPr id="18" name="Note dot 6"/>
          <p:cNvSpPr/>
          <p:nvPr/>
        </p:nvSpPr>
        <p:spPr>
          <a:xfrm>
            <a:off x="457200" y="3950208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9" name="Note number 6"/>
          <p:cNvSpPr txBox="1"/>
          <p:nvPr/>
        </p:nvSpPr>
        <p:spPr>
          <a:xfrm>
            <a:off x="457200" y="39502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6</a:t>
            </a:r>
            <a:endParaRPr lang="en-US" sz="1100" dirty="0"/>
          </a:p>
        </p:txBody>
      </p:sp>
      <p:sp>
        <p:nvSpPr>
          <p:cNvPr id="20" name="Note text 6"/>
          <p:cNvSpPr txBox="1"/>
          <p:nvPr/>
        </p:nvSpPr>
        <p:spPr>
          <a:xfrm>
            <a:off x="960120" y="3886200"/>
            <a:ext cx="7726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Privacy 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No personal data is collected or stored. Policy: samsungsmarttv.fifi.cooking/privacy.html</a:t>
            </a:r>
            <a:endParaRPr lang="en-US" sz="1250" dirty="0"/>
          </a:p>
        </p:txBody>
      </p:sp>
      <p:sp>
        <p:nvSpPr>
          <p:cNvPr id="21" name="Support line"/>
          <p:cNvSpPr txBox="1"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accent4"/>
                </a:solidFill>
              </a:rPr>
              <a:t>Support: samsungtv@fifi.cooking · samsungsmarttv.fifi.cooking/support.html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iFi Recipes">
  <a:themeElements>
    <a:clrScheme name="FiFi Recipes">
      <a:dk1>
        <a:srgbClr val="43311F"/>
      </a:dk1>
      <a:lt1>
        <a:srgbClr val="FFFFFF"/>
      </a:lt1>
      <a:dk2>
        <a:srgbClr val="2F5E18"/>
      </a:dk2>
      <a:lt2>
        <a:srgbClr val="F4F8EF"/>
      </a:lt2>
      <a:accent1>
        <a:srgbClr val="3A7A1E"/>
      </a:accent1>
      <a:accent2>
        <a:srgbClr val="E8590C"/>
      </a:accent2>
      <a:accent3>
        <a:srgbClr val="FFC53D"/>
      </a:accent3>
      <a:accent4>
        <a:srgbClr val="6F5B42"/>
      </a:accent4>
      <a:accent5>
        <a:srgbClr val="E6F3D8"/>
      </a:accent5>
      <a:accent6>
        <a:srgbClr val="FDE4D3"/>
      </a:accent6>
      <a:hlink>
        <a:srgbClr val="3A7A1E"/>
      </a:hlink>
      <a:folHlink>
        <a:srgbClr val="6F5B42"/>
      </a:folHlink>
    </a:clrScheme>
    <a:fontScheme name="FiFi Recipe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FiFi Recipes — App UI Description</dc:title>
  <dc:subject>PptxGenJS Presentation</dc:subject>
  <dc:creator>FiFi Recipes</dc:creator>
  <cp:lastModifiedBy>FiFi Recipes</cp:lastModifiedBy>
  <cp:revision>1</cp:revision>
  <dcterms:created xsi:type="dcterms:W3CDTF">2026-10-03T02:39:39Z</dcterms:created>
  <dcterms:modified xsi:type="dcterms:W3CDTF">2026-10-03T02:39:39Z</dcterms:modified>
</cp:coreProperties>
</file>